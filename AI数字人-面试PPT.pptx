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5943600" y="-914400"/>
            <a:ext cx="4114800" cy="2743200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600000">
            <a:off x="6400800" y="-457200"/>
            <a:ext cx="3657600" cy="228600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1732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从工具到伙伴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数字人/NPC 统一基础设施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架构设计与工程实践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2286000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74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面向大模型时代的 AI Infra 建设与思考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7年分布式系统 ｜ AI推理平台0→1 ｜ 服务2.3亿用户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核心价值定位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以工程化能力驱动 AI 落地，从 0 到 1 搭建支撑亿级用户的 AI 基础设施平台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5603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34440"/>
            <a:ext cx="256032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架构设计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大规模推理平台架构</a:t>
            </a:r>
            <a:endParaRPr lang="en-US" sz="120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多模态编排引擎设计</a:t>
            </a:r>
            <a:endParaRPr lang="en-US" sz="120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全球分布式部署架构</a:t>
            </a:r>
            <a:endParaRPr lang="en-US" sz="120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五层微服务体系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5603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34440"/>
            <a:ext cx="256032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34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技术管理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12人跨职能团队带领</a:t>
            </a:r>
            <a:endParaRPr lang="en-US" sz="120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6个月0→1完整交付</a:t>
            </a:r>
            <a:endParaRPr lang="en-US" sz="120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全流程项目管理体系</a:t>
            </a:r>
            <a:endParaRPr lang="en-US" sz="120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技术选型与供应商管理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5603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234440"/>
            <a:ext cx="256032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234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业务价值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192024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GPU利用率 28%→72%</a:t>
            </a:r>
            <a:endParaRPr lang="en-US" sz="120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推理成本降低 62%</a:t>
            </a:r>
            <a:endParaRPr lang="en-US" sz="120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年节省成本4300万+</a:t>
            </a:r>
            <a:endParaRPr lang="en-US" sz="120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用户体验持续提升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项目背景与核心挑战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数字人/NPC 统一基础设施 — 行业痛点与新挑战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传统NPC三大根本痛点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交互体验极其有限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预设对话树，无法开放式交流，任何超出预设范围的问题都得到机械回复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开发成本高昂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单个高质量NPC开发周期3-6个月，成本超百万元，难以规模化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8720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内容固化无法更新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794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上线即固定，无法根据玩家行为调整，千人一面无个性化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3931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大模型引入后的新挑战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实时性要求极高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057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端到端响应需 &lt; 300ms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传统串行流程 &gt; 1秒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💰 推理成本高昂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057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单个AI NPC成本是传统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NPC的数十倍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🎭 人设一致性难保证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429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大模型容易忘记身份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说出不符合角色的话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🛡️ 内容安全风险突出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3429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开放式对话可能产生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违规内容，引入合规风险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75320" y="123444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1280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12人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12480" y="16184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跨职能团队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275320" y="219456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22402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6个月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412480" y="2578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0→1交付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8275320" y="315468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0" y="32004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2.3亿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412480" y="35387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覆盖玩家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8275320" y="411480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0" y="4160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1200万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412480" y="44988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日活用户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57200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项目定位：构建通用的、可复用的 AI 数字人基础设施平台，为公司所有游戏和端外业务提供标准化的数字人能力支撑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整体架构设计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五层微服务架构 — 平台化、模块化、可插拔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943600" cy="640080"/>
          </a:xfrm>
          <a:prstGeom prst="rect">
            <a:avLst/>
          </a:prstGeom>
          <a:solidFill>
            <a:srgbClr val="065A82">
              <a:alpha val="88000"/>
            </a:srgbClr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接 入 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11680" y="12344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多协议网关 · 终端适配 · 负载均衡 · 安全认证 · 流量控制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91840" y="1828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5943600" cy="640080"/>
          </a:xfrm>
          <a:prstGeom prst="rect">
            <a:avLst/>
          </a:prstGeom>
          <a:solidFill>
            <a:srgbClr val="0D9488">
              <a:alpha val="88000"/>
            </a:srgbClr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4767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编 排 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194767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数字人统一编排引擎 · 会话管理 · 状态同步 · 事件总线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25420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60904"/>
            <a:ext cx="5943600" cy="640080"/>
          </a:xfrm>
          <a:prstGeom prst="rect">
            <a:avLst/>
          </a:prstGeom>
          <a:solidFill>
            <a:srgbClr val="2563EB">
              <a:alpha val="88000"/>
            </a:srgb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60904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能 力 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266090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 · 语音 · 视觉 · 动作 · 记忆 · 游戏交互 · 内容安全 · 个性化 · 工具调用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325526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374136"/>
            <a:ext cx="5943600" cy="640080"/>
          </a:xfrm>
          <a:prstGeom prst="rect">
            <a:avLst/>
          </a:prstGeom>
          <a:solidFill>
            <a:srgbClr val="7C3AED">
              <a:alpha val="88000"/>
            </a:srgbClr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74136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 型 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337413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大语言模型 · 语音识别 · 语音合成 · 表情生成 · 动作生成 · 内容审核 · 向量模型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39684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087368"/>
            <a:ext cx="5943600" cy="640080"/>
          </a:xfrm>
          <a:prstGeom prst="rect">
            <a:avLst/>
          </a:prstGeom>
          <a:solidFill>
            <a:srgbClr val="4B5563">
              <a:alpha val="88000"/>
            </a:srgbClr>
          </a:solidFill>
          <a:ln w="15240">
            <a:solidFill>
              <a:srgbClr val="4B55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8736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基础设施层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408736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K8s/EKS · GPU集群 · Redis · MySQL · VecDB · Prometheus · SkyWalking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75120" y="1234440"/>
            <a:ext cx="2103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0" y="1234440"/>
            <a:ext cx="21031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1344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平台化 · 模块化 · 可插拔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12280" y="16184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所有数字人共享基础能力，避免重复造轮子；模块独立开发/测试/部署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75120" y="2423160"/>
            <a:ext cx="2103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75120" y="2423160"/>
            <a:ext cx="21031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2532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工程优先 · 算法赋能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12280" y="28072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优先使用成熟方案，聚焦工程化实现；通过工程手段弥补算法瓶颈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75120" y="3611880"/>
            <a:ext cx="2103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75120" y="3611880"/>
            <a:ext cx="21031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6812280" y="3721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业务价值导向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12280" y="39959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选择最适合而非最先进的技术；任何方案必须能提升用户体验或降低成本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核心技术突破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"计划-填充" 两阶段流式编排架构 — 端到端延迟从 1秒+ 降至 180ms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传统串行流程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2286000" cy="36576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文本生成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21488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286000"/>
            <a:ext cx="2286000" cy="36576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语音合成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26517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2788920"/>
            <a:ext cx="2286000" cy="36576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表情生成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31546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291840"/>
            <a:ext cx="2286000" cy="36576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动作生成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886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端到端延迟 &gt; 1000ms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串行等待 · 同步性差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我们的方案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212080" y="1737360"/>
            <a:ext cx="3108960" cy="594360"/>
          </a:xfrm>
          <a:prstGeom prst="rect">
            <a:avLst/>
          </a:prstGeom>
          <a:solidFill>
            <a:srgbClr val="D1FAE5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1737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第一阶段（0-50ms）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9496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语义计划生成 — 结构化JSON（核心内容+情感基调+表情动作需求+语音参数），仅几十token，50ms内完成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12080" y="23957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▼ 并行执行 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12080" y="2651760"/>
            <a:ext cx="1371600" cy="347472"/>
          </a:xfrm>
          <a:prstGeom prst="rect">
            <a:avLst/>
          </a:prstGeom>
          <a:solidFill>
            <a:srgbClr val="059669">
              <a:alpha val="15000"/>
            </a:srgbClr>
          </a:solidFill>
          <a:ln w="762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2651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文本生成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75120" y="2651760"/>
            <a:ext cx="1371600" cy="347472"/>
          </a:xfrm>
          <a:prstGeom prst="rect">
            <a:avLst/>
          </a:prstGeom>
          <a:solidFill>
            <a:srgbClr val="059669">
              <a:alpha val="15000"/>
            </a:srgbClr>
          </a:solidFill>
          <a:ln w="762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2651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语音合成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12080" y="3108960"/>
            <a:ext cx="1371600" cy="347472"/>
          </a:xfrm>
          <a:prstGeom prst="rect">
            <a:avLst/>
          </a:prstGeom>
          <a:solidFill>
            <a:srgbClr val="059669">
              <a:alpha val="15000"/>
            </a:srgbClr>
          </a:solidFill>
          <a:ln w="762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3108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表情生成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75120" y="3108960"/>
            <a:ext cx="1371600" cy="347472"/>
          </a:xfrm>
          <a:prstGeom prst="rect">
            <a:avLst/>
          </a:prstGeom>
          <a:solidFill>
            <a:srgbClr val="059669">
              <a:alpha val="15000"/>
            </a:srgbClr>
          </a:solidFill>
          <a:ln w="762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3108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动作生成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12080" y="3611880"/>
            <a:ext cx="3108960" cy="457200"/>
          </a:xfrm>
          <a:prstGeom prst="rect">
            <a:avLst/>
          </a:prstGeom>
          <a:solidFill>
            <a:srgbClr val="D1FAE5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多模态流式同步输出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94960" y="38587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端到端延迟 &lt; 180ms  ·  同步误差 &lt; 40ms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57200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核心创新：先让大模型花50ms生成结构化「语义计划」，所有模态基于同一计划并行生成 — 低延迟 + 天然同步 + 高容错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核心技术突破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系统性推理成本优化 — 成本降低 62%，年节省 2800 万+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325880"/>
            <a:ext cx="320040" cy="32004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325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流式生成 + 动态批处理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6002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+ PagedAttention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1901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GPU内存利用率 25%→65%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51760" y="1901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吞吐量提升 2-3倍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21579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请求动态加入/离开批次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8872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1325880"/>
            <a:ext cx="320040" cy="32004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1325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模型量化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16002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AWQ 4bit + 混合精度推理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0" y="1901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模型大小减少 75%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1901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推理速度提升 2倍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03520" y="21579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关键层保持高精度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69748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69748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2834640"/>
            <a:ext cx="320040" cy="32004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2834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多级缓存机制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31089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L1内存 → L2 Redis → L3 向量缓存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" y="3410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命中率：40%+25%+15%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51760" y="3410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减少80%模型调用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" y="36667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语义相似请求复用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69748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69748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Shape 32"/>
          <p:cNvSpPr/>
          <p:nvPr/>
        </p:nvSpPr>
        <p:spPr>
          <a:xfrm>
            <a:off x="4846320" y="2834640"/>
            <a:ext cx="320040" cy="32004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03520" y="2834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智能模型路由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03520" y="31089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分级服务，最优性价比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03520" y="3410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简单请求→小模型(1.8B)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8000" y="3410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复杂请求→大模型(7B)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03520" y="36667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付费用户→专用实例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4160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总成果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645920" y="41605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推理成本降低62%   年节省2800万+   推理速度提升2-3倍   减少80%模型调用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核心技术突破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四层分层记忆系统 + 人设校验机制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669280" cy="713232"/>
          </a:xfrm>
          <a:prstGeom prst="rect">
            <a:avLst/>
          </a:prstGeom>
          <a:solidFill>
            <a:srgbClr val="065A82">
              <a:alpha val="10000"/>
            </a:srgbClr>
          </a:solidFill>
          <a:ln w="1016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L0 人设记忆层（永久）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4447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角色设定 · 背景故事 · 性格特征 · 说话风格 · 行为准则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9120" y="14447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每次对话注入 — 保证人设一致性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017520" y="1810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11096"/>
            <a:ext cx="5669280" cy="713232"/>
          </a:xfrm>
          <a:prstGeom prst="rect">
            <a:avLst/>
          </a:prstGeom>
          <a:solidFill>
            <a:srgbClr val="0D9488">
              <a:alpha val="10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5681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 长期记忆层（月度）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2128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用户档案 · 偏好习惯 · 重要事件 · 关系图谱 · 知识储备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0" y="22128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自动提取认知 — 跨会话延续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17520" y="2578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79192"/>
            <a:ext cx="5669280" cy="713232"/>
          </a:xfrm>
          <a:prstGeom prst="rect">
            <a:avLst/>
          </a:prstGeom>
          <a:solidFill>
            <a:srgbClr val="2563EB">
              <a:alpha val="10000"/>
            </a:srgbClr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2491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 中期记忆层（周度）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809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会话摘要 · 任务状态 · 临时信息 · 情绪状态 · 交互历史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0" y="29809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定期压缩整理 — 保留重要信息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17520" y="33467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47288"/>
            <a:ext cx="5669280" cy="713232"/>
          </a:xfrm>
          <a:prstGeom prst="rect">
            <a:avLst/>
          </a:prstGeom>
          <a:solidFill>
            <a:srgbClr val="7C3AED">
              <a:alpha val="10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4930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 短期记忆层（会话）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749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当前上下文 · 实时状态 · 未完成任务 · 临时变量 · 缓存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89120" y="3749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超限自动摘要 — 释放上下文空间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0" y="1143000"/>
            <a:ext cx="237744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3796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人设校验机制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75120" y="1691640"/>
            <a:ext cx="1828800" cy="4114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生成回复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0" y="21214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75120" y="2331720"/>
            <a:ext cx="1828800" cy="411480"/>
          </a:xfrm>
          <a:prstGeom prst="rect">
            <a:avLst/>
          </a:prstGeom>
          <a:solidFill>
            <a:srgbClr val="0D9488">
              <a:alpha val="15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人设校验模型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2880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通过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26680" y="2880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 不通过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09360" y="3154680"/>
            <a:ext cx="914400" cy="347472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31546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正常输出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35240" y="3154680"/>
            <a:ext cx="914400" cy="347472"/>
          </a:xfrm>
          <a:prstGeom prst="rect">
            <a:avLst/>
          </a:prstGeom>
          <a:solidFill>
            <a:srgbClr val="DC2626">
              <a:alpha val="1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635240" y="31546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重新生成 / 兜底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635240" y="3566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⟲ 重新生成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设计理念：模拟人类记忆 —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永久不变的"我是谁" → 长期"我对你的了解" → 近期"发生的事" → 当前"在聊什么"。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人设校验：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每次输出前用小模型做人设审查，不符合就打回去重来，确保 NPC 永远是"它自己"。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全球部署与运维体系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区域中心 + 弹性伸缩 + 全链路可观测 + 灰度 A/B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全球分布式部署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645920"/>
            <a:ext cx="914400" cy="365760"/>
          </a:xfrm>
          <a:prstGeom prst="rect">
            <a:avLst/>
          </a:prstGeom>
          <a:solidFill>
            <a:srgbClr val="E8F4F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00200" y="1645920"/>
            <a:ext cx="914400" cy="365760"/>
          </a:xfrm>
          <a:prstGeom prst="rect">
            <a:avLst/>
          </a:prstGeom>
          <a:solidFill>
            <a:srgbClr val="E8F4F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新加坡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1645920"/>
            <a:ext cx="914400" cy="365760"/>
          </a:xfrm>
          <a:prstGeom prst="rect">
            <a:avLst/>
          </a:prstGeom>
          <a:solidFill>
            <a:srgbClr val="E8F4F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11880" y="1645920"/>
            <a:ext cx="914400" cy="365760"/>
          </a:xfrm>
          <a:prstGeom prst="rect">
            <a:avLst/>
          </a:prstGeom>
          <a:solidFill>
            <a:srgbClr val="E8F4F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2103120"/>
            <a:ext cx="914400" cy="365760"/>
          </a:xfrm>
          <a:prstGeom prst="rect">
            <a:avLst/>
          </a:prstGeom>
          <a:solidFill>
            <a:srgbClr val="E8F4F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德国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00200" y="2103120"/>
            <a:ext cx="914400" cy="365760"/>
          </a:xfrm>
          <a:prstGeom prst="rect">
            <a:avLst/>
          </a:prstGeom>
          <a:solidFill>
            <a:srgbClr val="E8F4F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巴西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06040" y="2103120"/>
            <a:ext cx="914400" cy="365760"/>
          </a:xfrm>
          <a:prstGeom prst="rect">
            <a:avLst/>
          </a:prstGeom>
          <a:solidFill>
            <a:srgbClr val="E8F4F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印度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11880" y="2103120"/>
            <a:ext cx="914400" cy="365760"/>
          </a:xfrm>
          <a:prstGeom prst="rect">
            <a:avLst/>
          </a:prstGeom>
          <a:solidFill>
            <a:srgbClr val="E8F4F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俄罗斯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26060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各中心独立计算+存储+网络，专线互联，自动故障转移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188720"/>
            <a:ext cx="39319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弹性伸缩体系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16642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▸ 日常伸缩：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1664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基于历史流量预测，提前扩缩容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20482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▸ 突发伸缩：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89320" y="20482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流量突然激增时，快速扩容应对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2432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▸ 紧急伸缩：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89320" y="24323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系统负载超阈值，紧急扩容+降级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274320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基于K8s HPA · CPU/GPU/延迟/队列多指标动态调整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15468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436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全链路可观测性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" y="3611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指标监控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965960" y="36118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Prometheus+Grafana · 业务/性能/资源指标 · 告警规则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" y="3950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📝 日志分析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65960" y="3950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腾讯云CLS · 全量日志采集 · TraceID跨服务关联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4360" y="42885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🔗 链路追踪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965960" y="42885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SkyWalking分布式追踪 · 每个请求唯一TraceID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154680"/>
            <a:ext cx="39319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9204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灰度发布 &amp; A/B 测试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74920" y="3611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开发测试环境验证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74920" y="3886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内部员工灰度使用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74920" y="4160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1%用户小流量验证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74920" y="4434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逐步扩大至全量上线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量化成果与业务价值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用数据证明 — AI 数字人不只是噱头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业务成果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2.3亿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覆盖全球玩家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1200万+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日活用户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1.2→7.8轮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平均对话轮次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971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3.2→4.6分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用户满意度（5分制）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次日留存率提升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794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1168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7日留存率提升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206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11680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付费转化率提升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3931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技术成果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180ms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端到端延迟（1000ms+→）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25%→65%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2240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GPU内存利用率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240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推理成本降低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92240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开发效率提升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1500万+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92240" y="3383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年节省研发成本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2800万+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9224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年节省云资源成本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99.97%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92240" y="4206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违规内容拦截率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663440"/>
            <a:ext cx="8229600" cy="164592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66344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"每个数字都有对应的技术故事支撑 — 成本降低62%对应四维优化体系，延迟180ms对应'计划-填充'编排架构"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经验教训与核心认知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0 到 1 的关键反思 — 比技术成果更有价值的是认知升级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2435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工程化能力是AI项目成功的关键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51790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算法模型只是AI项目的一部分，更重要的是如何转化为稳定、高效、可扩展的产品。这也是非算法出身的AI Infra负责人的核心价值所在。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29968"/>
            <a:ext cx="54864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2996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0848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业务理解比技术能力更重要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359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项目开始前花大量时间与策划、运营、玩家交流，深入理解需求。技术方案必须服务于业务问题，否则再先进也无法创造价值。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71216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71216"/>
            <a:ext cx="54864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7121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2926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渐进式迭代优于完美主义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20040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AI技术发展极快，等什么都成熟了再动就晚了。先上核心功能，根据反馈快速迭代。MVP思维在AI项目上比传统项目更重要。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12464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712464"/>
            <a:ext cx="54864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1246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88720" y="3767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跨团队协作是项目成功的保障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40416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后端、算法、客户端、产品、运营、安全 — 六个团队密切配合。建立高效协作机制和清晰接口定义至关重要。12人跨职能团队，6个月完成从0到1。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核心竞争力与未来规划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我不是来做工程师的，我是来做 AI Infra 负责人的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20116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技术深度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全栈AI Infra能力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推理平台架构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多模态编排引擎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234440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234440"/>
            <a:ext cx="20116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管理能力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17830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12人跨职能团队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6个月0→1交付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全流程项目管理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234440"/>
            <a:ext cx="20116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业务能力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7830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深度理解游戏场景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年节省4300万+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技术直接创造商业价值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234440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234440"/>
            <a:ext cx="20116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战略能力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17830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行业趋势判断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技术路线图制定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0→1方法论沉淀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三阶段规划框架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37560"/>
            <a:ext cx="54864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3375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阶段一：0-6月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03120" y="3337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全面评估 + 夯实基础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49040" y="33375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全面评估现有AI基础设施 · 解决最紧急的性能和稳定性问题 · 建立基础监控和运维体系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3776472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776472"/>
            <a:ext cx="54864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7764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阶段二：6-18月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03120" y="37764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平台化建设 + 能力提升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49040" y="37764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构建统一推理平台 · 优化资源调度和成本管控 · 提升AI研发效率 · 降低整体AI成本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4215384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D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215384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2153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阶段三：18-36月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103120" y="42153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智能化演进 + 战略支撑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49040" y="42153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探索智能化运维 · 支撑更大规模应用 · 打造行业领先的AI Infra能力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4645152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针对不同公司，规划内容需根据对方业务和AI战略进行定制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914400" y="-914400"/>
            <a:ext cx="3657600" cy="2743200"/>
          </a:xfrm>
          <a:prstGeom prst="rect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900000">
            <a:off x="6858000" y="3657600"/>
            <a:ext cx="4114800" cy="2286000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2194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欢迎提问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834640"/>
            <a:ext cx="2743200" cy="27432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我是一名以工程化能力推动 AI 落地的 AI Infra 建设者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3840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姓名 ｜ 邮箱 ｜ 电话/微信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Infra 面试 PPT</dc:title>
  <dc:subject>PptxGenJS Presentation</dc:subject>
  <dc:creator>Candidate</dc:creator>
  <cp:lastModifiedBy>Candidate</cp:lastModifiedBy>
  <cp:revision>1</cp:revision>
  <dcterms:created xsi:type="dcterms:W3CDTF">2026-06-01T07:28:29Z</dcterms:created>
  <dcterms:modified xsi:type="dcterms:W3CDTF">2026-06-01T07:28:29Z</dcterms:modified>
</cp:coreProperties>
</file>